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A9EEB-7DF9-F96D-14A2-5ECC7FC3D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59B99C3-6068-8031-926A-39054F7F1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53D043-FFB7-89B1-95D5-26632FC9B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A34E7A-EB07-CD16-2C4C-A0D9C6C5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BEEE85-E0AF-56C5-6FAE-68286200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34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176345-3D0D-D28E-C76C-C4468EA8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4FA36B-46CD-97FC-1A0D-A1FABF996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A3D36E-03F3-11C0-F604-34E1310F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7A28B6-4DCC-C2FB-B60F-E9E258F7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38C32C-1F22-5B1B-B696-8CB126F4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532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E11E24-1B54-71F2-2C9B-A80FB84C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FC5797-BF20-C4FD-D30C-A37A2C17D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1354B6-F07C-E2E1-91AB-69CE157A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D6E833-9096-4584-425D-E366DB92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992736-F1AA-D839-7736-CB9CD477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8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0D3F6-D500-770A-3A06-3DA7AE554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9681FA-DAE9-CAA4-223B-C1F54EA4C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6DED293-C161-6B00-7B48-2A54D1536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E55C209-469C-3D08-A034-31C3F926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30C4B0A-B85F-8CFA-6801-BC9CD839D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EDC6FE-91BA-8E40-DC0D-96D0EFA4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453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C8E871-6887-A4DE-9BF0-11277B10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F0DB87-6A3F-2549-F291-659D9F966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0E117F-4431-783D-3264-84534B132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0D3A95C-8559-2059-B78C-ED82B3E3B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80A96BB-C6DE-C998-0758-A333BA5CC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AE2E003-766B-C22C-16BC-D0000BACE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F9B342F-044C-E9D1-EA34-BA4D9DCB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656F840-33E8-EFAD-8544-28E8E946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78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5DA1B6-56FD-1BBD-7BAB-930D0D4D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3C4716E-B07F-E9B2-9767-AE42996A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BBEE132-D4E6-6ED9-973A-F21C836C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99D5D9-1BD5-D246-C80F-DDFBDC2A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310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F46EB63-3FB2-29FA-604D-47756A71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67E5330-57D2-7E4B-80EE-07F4427A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AC0DE6-D2C3-FB0C-0BC8-DCC82E35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373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73F4E-01EC-A529-EF8D-D8C3B6EDF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107246-69FE-1465-B1BD-5E51CE06F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0E671A-211F-044D-E86F-4C3D5B531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30641E5-07A6-C647-FF05-8999CEA0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3C6AC2-A946-28C0-F5DA-D2FCC7DF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4A616CD-9BAC-4C24-E2D1-921C94D6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815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B510D6-F3F8-799D-8DE7-ACBFE186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3185A78-9937-2BA9-F3AD-0BFBDA73E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1B5C514-A0E7-9B2B-3271-462521B83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83CD6E5-0008-2557-0C0A-5731A5F4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C31B0E-4C50-96B1-D6A0-57B7C24A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A1DDD10-CD0B-3529-3169-70EF8E00B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057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249F75-AFC6-C148-D0F9-5E84BA1B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DFBAA1B-88A2-48BD-80A9-9942955A6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236A01-DBFA-3CB8-DEB0-77F54BC2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2A35F9-9F77-FEF2-327F-B0E43545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A1D740-01CE-D4BA-E561-5731E53C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9972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4DF1ED7-04AB-D8FC-DEEB-E12851489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75D7638-648D-7706-872E-B7BE02702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EF0851-AEF7-26AD-13AF-1396B959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6ED14F-624E-8B40-9455-61ADEAEA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66FB2A-B532-740E-0524-55071269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67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32918F8-6BA9-78EF-A5BC-88893D47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3B7400B-2F75-11D3-2BD4-E3324544C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F80D9C-5903-3FAF-390B-8C67F697F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1FB4A-DCD1-4A8D-BF82-4AC3D2AC93B8}" type="datetimeFigureOut">
              <a:rPr lang="it-IT" smtClean="0"/>
              <a:t>24/11/2025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573B8B-B781-9782-5AFB-43269BE3C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B4FFCA-C4BC-A7BE-F7C9-91A21A822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D15BA-F3AE-4833-AAA1-E28BAA9DB91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740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AD762805-11E6-D9E7-E63D-DEAFA82EA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129" y="3706148"/>
            <a:ext cx="4202469" cy="315185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91B8D48-3D70-F3DC-D2CF-63FDD0392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" y="155532"/>
            <a:ext cx="5563376" cy="39058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CFB81FD-33DC-BFE5-1ACB-CDDDCC822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65" y="622091"/>
            <a:ext cx="2229161" cy="74305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5571076-5358-1473-1012-4A89B0B3B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091" y="656988"/>
            <a:ext cx="1790950" cy="72400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CCB97B4-DA5B-DE19-B838-4B3AAC8D8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4545" y="1559833"/>
            <a:ext cx="2591162" cy="71447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E68E0054-9F1D-D705-E45B-31921E5BF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6" y="2453152"/>
            <a:ext cx="1352739" cy="276264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4BBAB65F-38F1-BB2C-6111-FF56DB5DD1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44" y="2910391"/>
            <a:ext cx="4753638" cy="1190791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3F50FEDE-4897-77D6-2336-EC557508F8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4792" y="4638587"/>
            <a:ext cx="3343742" cy="1181265"/>
          </a:xfrm>
          <a:prstGeom prst="rect">
            <a:avLst/>
          </a:prstGeom>
        </p:spPr>
      </p:pic>
      <p:sp>
        <p:nvSpPr>
          <p:cNvPr id="21" name="Simbolo &quot;Non consentito&quot; 20">
            <a:extLst>
              <a:ext uri="{FF2B5EF4-FFF2-40B4-BE49-F238E27FC236}">
                <a16:creationId xmlns:a16="http://schemas.microsoft.com/office/drawing/2014/main" id="{1C20D3F1-694E-C0ED-904B-357ED555FCF8}"/>
              </a:ext>
            </a:extLst>
          </p:cNvPr>
          <p:cNvSpPr/>
          <p:nvPr/>
        </p:nvSpPr>
        <p:spPr>
          <a:xfrm>
            <a:off x="2399636" y="2910391"/>
            <a:ext cx="1134054" cy="1134054"/>
          </a:xfrm>
          <a:prstGeom prst="noSmoking">
            <a:avLst>
              <a:gd name="adj" fmla="val 10269"/>
            </a:avLst>
          </a:prstGeom>
          <a:solidFill>
            <a:srgbClr val="C00000">
              <a:alpha val="3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C5BF93FB-BEF4-D5A2-162B-0473E78125E9}"/>
              </a:ext>
            </a:extLst>
          </p:cNvPr>
          <p:cNvCxnSpPr>
            <a:cxnSpLocks/>
            <a:stCxn id="21" idx="4"/>
            <a:endCxn id="20" idx="0"/>
          </p:cNvCxnSpPr>
          <p:nvPr/>
        </p:nvCxnSpPr>
        <p:spPr>
          <a:xfrm>
            <a:off x="2966663" y="4044445"/>
            <a:ext cx="0" cy="594142"/>
          </a:xfrm>
          <a:prstGeom prst="straightConnector1">
            <a:avLst/>
          </a:prstGeom>
          <a:ln>
            <a:solidFill>
              <a:srgbClr val="C00000">
                <a:alpha val="47059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8446F413-6460-0D47-E8E3-3D35E834EB61}"/>
                  </a:ext>
                </a:extLst>
              </p:cNvPr>
              <p:cNvSpPr txBox="1"/>
              <p:nvPr/>
            </p:nvSpPr>
            <p:spPr>
              <a:xfrm>
                <a:off x="2557747" y="5819852"/>
                <a:ext cx="1295034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it-IT" b="1" dirty="0">
                    <a:solidFill>
                      <a:schemeClr val="bg1">
                        <a:lumMod val="65000"/>
                      </a:schemeClr>
                    </a:solidFill>
                  </a:rPr>
                  <a:t>Acqua</a:t>
                </a:r>
                <a:r>
                  <a:rPr lang="it-IT" b="0" dirty="0">
                    <a:solidFill>
                      <a:schemeClr val="bg1">
                        <a:lumMod val="65000"/>
                      </a:schemeClr>
                    </a:solidFill>
                  </a:rPr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it-IT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=2.2 </m:t>
                      </m:r>
                      <m:r>
                        <a:rPr lang="it-IT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𝐺𝑃𝑎</m:t>
                      </m:r>
                    </m:oMath>
                  </m:oMathPara>
                </a14:m>
                <a:endParaRPr lang="it-IT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algn="ctr"/>
                <a:r>
                  <a:rPr lang="it-IT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it-IT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≈0 </m:t>
                    </m:r>
                    <m:r>
                      <a:rPr lang="it-IT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𝐺𝑃𝑎</m:t>
                    </m:r>
                  </m:oMath>
                </a14:m>
                <a:endParaRPr lang="it-IT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8446F413-6460-0D47-E8E3-3D35E834E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747" y="5819852"/>
                <a:ext cx="1295034" cy="830997"/>
              </a:xfrm>
              <a:prstGeom prst="rect">
                <a:avLst/>
              </a:prstGeom>
              <a:blipFill>
                <a:blip r:embed="rId10"/>
                <a:stretch>
                  <a:fillRect l="-4245" t="-8824" r="-4245" b="-66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Immagine 30" descr="Immagine che contiene linea, testo&#10;&#10;Il contenuto generato dall'IA potrebbe non essere corretto.">
            <a:extLst>
              <a:ext uri="{FF2B5EF4-FFF2-40B4-BE49-F238E27FC236}">
                <a16:creationId xmlns:a16="http://schemas.microsoft.com/office/drawing/2014/main" id="{FBECC065-21B1-6E9A-5559-F2B89789CF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779" y="530303"/>
            <a:ext cx="3570132" cy="2380088"/>
          </a:xfrm>
          <a:prstGeom prst="rect">
            <a:avLst/>
          </a:prstGeom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4B7246C-D8A3-8AD0-46CF-B471BB642AD3}"/>
              </a:ext>
            </a:extLst>
          </p:cNvPr>
          <p:cNvSpPr txBox="1"/>
          <p:nvPr/>
        </p:nvSpPr>
        <p:spPr>
          <a:xfrm>
            <a:off x="6417695" y="4974867"/>
            <a:ext cx="1624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Risultato di un modello con due elementi compressi verticalmente</a:t>
            </a:r>
          </a:p>
        </p:txBody>
      </p:sp>
      <p:pic>
        <p:nvPicPr>
          <p:cNvPr id="1026" name="Picture 2" descr="CST Element">
            <a:extLst>
              <a:ext uri="{FF2B5EF4-FFF2-40B4-BE49-F238E27FC236}">
                <a16:creationId xmlns:a16="http://schemas.microsoft.com/office/drawing/2014/main" id="{01F03850-4EF7-D95B-1B01-65BF29A85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353" y="321583"/>
            <a:ext cx="298132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50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2A2214F-D295-B287-FA87-0CC45B9A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543"/>
            <a:ext cx="4054770" cy="296725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DEB3F21-0AD3-89D8-95A0-86874FE59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9" y="3673202"/>
            <a:ext cx="3902029" cy="311874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13F5D7-2223-00CE-6F0F-956EE0011136}"/>
              </a:ext>
            </a:extLst>
          </p:cNvPr>
          <p:cNvSpPr txBox="1"/>
          <p:nvPr/>
        </p:nvSpPr>
        <p:spPr>
          <a:xfrm>
            <a:off x="959501" y="118323"/>
            <a:ext cx="2190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Deformata gravitazionale (fluido comprimibile)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61BFD57-1CC0-87D9-25F9-49FA45BF1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600" y="5786925"/>
            <a:ext cx="1326897" cy="696212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4F870365-54C9-7176-FF22-62623DDE79DE}"/>
              </a:ext>
            </a:extLst>
          </p:cNvPr>
          <p:cNvGrpSpPr/>
          <p:nvPr/>
        </p:nvGrpSpPr>
        <p:grpSpPr>
          <a:xfrm>
            <a:off x="4561759" y="67766"/>
            <a:ext cx="6220918" cy="3605436"/>
            <a:chOff x="4561759" y="67766"/>
            <a:chExt cx="6220918" cy="3605436"/>
          </a:xfrm>
        </p:grpSpPr>
        <p:pic>
          <p:nvPicPr>
            <p:cNvPr id="13" name="Immagine 12" descr="Immagine che contiene testo, schermata, software, Software multimediale&#10;&#10;Il contenuto generato dall'IA potrebbe non essere corretto.">
              <a:extLst>
                <a:ext uri="{FF2B5EF4-FFF2-40B4-BE49-F238E27FC236}">
                  <a16:creationId xmlns:a16="http://schemas.microsoft.com/office/drawing/2014/main" id="{2197E893-E443-5284-A3AA-C9DEADC9C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2" t="23102" r="33454" b="35182"/>
            <a:stretch>
              <a:fillRect/>
            </a:stretch>
          </p:blipFill>
          <p:spPr>
            <a:xfrm>
              <a:off x="4561759" y="374863"/>
              <a:ext cx="6220918" cy="3298339"/>
            </a:xfrm>
            <a:prstGeom prst="rect">
              <a:avLst/>
            </a:prstGeom>
          </p:spPr>
        </p:pic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AB6A2343-8836-DF5E-A545-77532EBBA9C2}"/>
                </a:ext>
              </a:extLst>
            </p:cNvPr>
            <p:cNvSpPr txBox="1"/>
            <p:nvPr/>
          </p:nvSpPr>
          <p:spPr>
            <a:xfrm>
              <a:off x="7201618" y="103887"/>
              <a:ext cx="21900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Distribuzione pressioni</a:t>
              </a: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905B7A33-BFF7-956D-03F0-DAA51EBC5A0F}"/>
                </a:ext>
              </a:extLst>
            </p:cNvPr>
            <p:cNvSpPr txBox="1"/>
            <p:nvPr/>
          </p:nvSpPr>
          <p:spPr>
            <a:xfrm>
              <a:off x="4652049" y="97235"/>
              <a:ext cx="4226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/>
                <a:t>z</a:t>
              </a: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14110CE7-FAA6-BA41-74BB-90B4660F31F5}"/>
                </a:ext>
              </a:extLst>
            </p:cNvPr>
            <p:cNvSpPr txBox="1"/>
            <p:nvPr/>
          </p:nvSpPr>
          <p:spPr>
            <a:xfrm>
              <a:off x="5074711" y="67766"/>
              <a:ext cx="4226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/>
                <a:t>fx</a:t>
              </a:r>
              <a:endParaRPr lang="it-IT" sz="1400" dirty="0"/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7A35D96A-FC45-7FC3-140C-F1089F5738B4}"/>
                </a:ext>
              </a:extLst>
            </p:cNvPr>
            <p:cNvSpPr txBox="1"/>
            <p:nvPr/>
          </p:nvSpPr>
          <p:spPr>
            <a:xfrm>
              <a:off x="5535481" y="103297"/>
              <a:ext cx="11591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/>
                <a:t>Fx (teorico)</a:t>
              </a:r>
            </a:p>
          </p:txBody>
        </p: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8FF5EFA-789A-877F-0750-7740EA9BCD3B}"/>
              </a:ext>
            </a:extLst>
          </p:cNvPr>
          <p:cNvSpPr txBox="1"/>
          <p:nvPr/>
        </p:nvSpPr>
        <p:spPr>
          <a:xfrm>
            <a:off x="5911913" y="4164594"/>
            <a:ext cx="5721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>
                <a:solidFill>
                  <a:srgbClr val="FF0000"/>
                </a:solidFill>
              </a:rPr>
              <a:t>PROBLEMI</a:t>
            </a:r>
            <a:r>
              <a:rPr lang="it-IT" dirty="0">
                <a:solidFill>
                  <a:srgbClr val="FF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FF0000"/>
                </a:solidFill>
              </a:rPr>
              <a:t>cambiando H e B ottengo cose strane (stranezza nelle forze imposte vicino al pelo libero)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FF0000"/>
                </a:solidFill>
              </a:rPr>
              <a:t>il periodo è dipendente dallo spessore del modello (forse con il circolare 3D va meglio..?)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FF0000"/>
                </a:solidFill>
              </a:rPr>
              <a:t>il periodo è dipendente dalla discretizzazione del modello</a:t>
            </a:r>
          </a:p>
        </p:txBody>
      </p:sp>
    </p:spTree>
    <p:extLst>
      <p:ext uri="{BB962C8B-B14F-4D97-AF65-F5344CB8AC3E}">
        <p14:creationId xmlns:p14="http://schemas.microsoft.com/office/powerpoint/2010/main" val="29789925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Marchi</dc:creator>
  <cp:lastModifiedBy>Andrea Marchi</cp:lastModifiedBy>
  <cp:revision>6</cp:revision>
  <dcterms:created xsi:type="dcterms:W3CDTF">2025-11-24T17:17:42Z</dcterms:created>
  <dcterms:modified xsi:type="dcterms:W3CDTF">2025-11-24T17:44:10Z</dcterms:modified>
</cp:coreProperties>
</file>